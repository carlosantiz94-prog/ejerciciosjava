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5259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18021" y="302079"/>
            <a:ext cx="41078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Spring Boot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729091" y="1733550"/>
            <a:ext cx="368569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Ecosistema Moderno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297603" y="2731770"/>
            <a:ext cx="454867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Menos configuración, más innovación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297603" y="3059430"/>
            <a:ext cx="454867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Spring Boot simplifica la vida del desarrollador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00808" y="3768090"/>
            <a:ext cx="1942386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26"/>
              </a:lnSpc>
              <a:buNone/>
            </a:pPr>
            <a:endParaRPr lang="en-US" sz="11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Spring Boot Cambió Todo?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2072640"/>
            <a:ext cx="7620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Antes:</a:t>
            </a: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Semanas configurando XML, dependencias, servidores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Ahora:</a:t>
            </a: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Minutos listos para desarrollar con convenciones inteligentes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40% más rápido</a:t>
            </a: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iniciar proyectos que Java tradicional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Embedded Tomcat = </a:t>
            </a:r>
            <a:r>
              <a:rPr lang="en-US" sz="135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necesitas servidor externo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02081"/>
            <a:ext cx="7924800" cy="510540"/>
          </a:xfrm>
          <a:prstGeom prst="roundRect">
            <a:avLst>
              <a:gd name="adj" fmla="val 35821"/>
            </a:avLst>
          </a:prstGeom>
          <a:solidFill>
            <a:srgbClr val="38BDF8">
              <a:alpha val="1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93620"/>
            <a:ext cx="3848100" cy="1229797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86300" y="2293620"/>
            <a:ext cx="3848100" cy="1229797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752016"/>
            <a:ext cx="3848100" cy="1229797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86300" y="3752016"/>
            <a:ext cx="3848100" cy="1229797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Anotaciones (@) - Las "Etiquetas Mágicas"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84860" y="1554481"/>
            <a:ext cx="75971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hacen?</a:t>
            </a: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Reemplazan cientos de líneas de configuración XML con una sola línea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598420"/>
            <a:ext cx="3303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@RestController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987040"/>
            <a:ext cx="3303270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 automáticamente un controlador REST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4991100" y="2598420"/>
            <a:ext cx="3303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@Autowired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91100" y="2987040"/>
            <a:ext cx="3303270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Inyecta dependencias automáticamente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914400" y="4056816"/>
            <a:ext cx="3303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@Service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445437"/>
            <a:ext cx="3303270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Marca la lógica de negocio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4991100" y="4056816"/>
            <a:ext cx="3303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@Repository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91100" y="4445437"/>
            <a:ext cx="3303270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Maneja acceso a datos</a:t>
            </a:r>
            <a:endParaRPr lang="en-US" sz="11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1"/>
            <a:ext cx="7924800" cy="21336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Anotaciones en Acción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76300" y="1554481"/>
            <a:ext cx="12593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72"/>
              </a:lnSpc>
              <a:buNone/>
            </a:pPr>
            <a:r>
              <a:rPr lang="en-US" sz="10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@RestController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876300" y="1706881"/>
            <a:ext cx="26865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7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ProductController {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1181100" y="2011681"/>
            <a:ext cx="8396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72"/>
              </a:lnSpc>
              <a:buNone/>
            </a:pPr>
            <a:r>
              <a:rPr lang="en-US" sz="108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@Autowired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1181100" y="2164081"/>
            <a:ext cx="2602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7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ProductService service;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1181100" y="2468881"/>
            <a:ext cx="9235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72"/>
              </a:lnSpc>
              <a:buNone/>
            </a:pPr>
            <a:r>
              <a:rPr lang="en-US" sz="10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@GetMapping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2168962" y="2468881"/>
            <a:ext cx="9235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72"/>
              </a:lnSpc>
              <a:buNone/>
            </a:pPr>
            <a:r>
              <a:rPr lang="en-US" sz="108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"/products"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181100" y="2621281"/>
            <a:ext cx="2602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7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List&lt;Product&gt; getAll() {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1485900" y="2773681"/>
            <a:ext cx="24348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7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service.getProducts();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1181100" y="2926081"/>
            <a:ext cx="840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7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76300" y="3078481"/>
            <a:ext cx="840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7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609600" y="3764280"/>
            <a:ext cx="8083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7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✨ 15 líneas. Sin XML. Sin configuración. Listo para producción.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02080"/>
            <a:ext cx="7924800" cy="510540"/>
          </a:xfrm>
          <a:prstGeom prst="roundRect">
            <a:avLst>
              <a:gd name="adj" fmla="val 35821"/>
            </a:avLst>
          </a:prstGeom>
          <a:solidFill>
            <a:srgbClr val="38BDF8">
              <a:alpha val="1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17420"/>
            <a:ext cx="3790950" cy="231648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05350" y="2217420"/>
            <a:ext cx="3829050" cy="231648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Convention Over Configuration (CoC)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84860" y="1554480"/>
            <a:ext cx="75971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Principio:</a:t>
            </a: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Spring Boot toma decisiones inteligentes por ti. Configura solo si necesitas algo especial.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522220"/>
            <a:ext cx="32449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Spring Boot Asume: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19200" y="3017520"/>
            <a:ext cx="2876550" cy="1135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Tomcat en puerto 8080</a:t>
            </a:r>
            <a:endParaRPr lang="en-US" sz="1140" dirty="0"/>
          </a:p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de datos en localhost</a:t>
            </a:r>
            <a:endParaRPr lang="en-US" sz="1140" dirty="0"/>
          </a:p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application.properties</a:t>
            </a:r>
            <a:endParaRPr lang="en-US" sz="1140" dirty="0"/>
          </a:p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Recursos en src/main/resources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5048250" y="2522220"/>
            <a:ext cx="32449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Resultado: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353050" y="3017520"/>
            <a:ext cx="2876550" cy="1135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Proyecto listo en </a:t>
            </a:r>
            <a:r>
              <a:rPr lang="en-US" sz="114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minutos</a:t>
            </a:r>
            <a:endParaRPr lang="en-US" sz="1140" dirty="0"/>
          </a:p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Menos líneas de código</a:t>
            </a:r>
            <a:endParaRPr lang="en-US" sz="1140" dirty="0"/>
          </a:p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Menos errores</a:t>
            </a:r>
            <a:endParaRPr lang="en-US" sz="1140" dirty="0"/>
          </a:p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Más enfoque en lógica</a:t>
            </a:r>
            <a:endParaRPr lang="en-US" sz="11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0"/>
            <a:ext cx="3810000" cy="3208020"/>
          </a:xfrm>
          <a:prstGeom prst="roundRect">
            <a:avLst>
              <a:gd name="adj" fmla="val 11401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24400" y="1325880"/>
            <a:ext cx="3810000" cy="3208020"/>
          </a:xfrm>
          <a:prstGeom prst="roundRect">
            <a:avLst>
              <a:gd name="adj" fmla="val 11401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0352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 y Después: El Impacto Real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76300" y="1554480"/>
            <a:ext cx="3380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Java Tradicional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04900" y="2232661"/>
            <a:ext cx="3086100" cy="207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5-7 días</a:t>
            </a: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setup inicial</a:t>
            </a:r>
            <a:endParaRPr lang="en-US" sz="1140" dirty="0"/>
          </a:p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Configurar Tomcat manualmente</a:t>
            </a:r>
            <a:endParaRPr lang="en-US" sz="1140" dirty="0"/>
          </a:p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500+ líneas XML</a:t>
            </a:r>
            <a:endParaRPr lang="en-US" sz="1140" dirty="0"/>
          </a:p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Gestionar versiones de dependencias</a:t>
            </a:r>
            <a:endParaRPr lang="en-US" sz="1140" dirty="0"/>
          </a:p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Crear estructura de proyecto</a:t>
            </a:r>
            <a:endParaRPr lang="en-US" sz="1140" dirty="0"/>
          </a:p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Conectar BD a mano</a:t>
            </a:r>
            <a:endParaRPr lang="en-US" sz="1140" dirty="0"/>
          </a:p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Esfuerzo: </a:t>
            </a:r>
            <a:r>
              <a:rPr lang="en-US" sz="114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70%</a:t>
            </a: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config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4991100" y="1554480"/>
            <a:ext cx="3380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Spring Boot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219700" y="2232661"/>
            <a:ext cx="3086100" cy="207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15-20 minutos</a:t>
            </a: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primer endpoint</a:t>
            </a:r>
            <a:endParaRPr lang="en-US" sz="1140" dirty="0"/>
          </a:p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Tomcat embebido automático</a:t>
            </a:r>
            <a:endParaRPr lang="en-US" sz="1140" dirty="0"/>
          </a:p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XML (anotaciones)</a:t>
            </a:r>
            <a:endParaRPr lang="en-US" sz="1140" dirty="0"/>
          </a:p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Starters manejan versiones</a:t>
            </a:r>
            <a:endParaRPr lang="en-US" sz="1140" dirty="0"/>
          </a:p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Estructura generada automática</a:t>
            </a:r>
            <a:endParaRPr lang="en-US" sz="1140" dirty="0"/>
          </a:p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Auto-configuración de BD</a:t>
            </a:r>
            <a:endParaRPr lang="en-US" sz="1140" dirty="0"/>
          </a:p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Esfuerzo: </a:t>
            </a:r>
            <a:r>
              <a:rPr lang="en-US" sz="114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lógica</a:t>
            </a:r>
            <a:endParaRPr lang="en-US" sz="11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60220"/>
            <a:ext cx="3848100" cy="1755338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760220"/>
            <a:ext cx="3848100" cy="1755338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972760"/>
            <a:ext cx="7924800" cy="510540"/>
          </a:xfrm>
          <a:prstGeom prst="roundRect">
            <a:avLst>
              <a:gd name="adj" fmla="val 35821"/>
            </a:avLst>
          </a:prstGeom>
          <a:solidFill>
            <a:srgbClr val="38BDF8">
              <a:alpha val="1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Starters: Los Kits Listos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09600" y="1249680"/>
            <a:ext cx="7924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Agreguemos una dependencia y Spring Boot configura TODO automáticamente: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1988820"/>
            <a:ext cx="3458718" cy="21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spring-boot-starter-web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38200" y="2360654"/>
            <a:ext cx="3390900" cy="926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REST API lista</a:t>
            </a:r>
            <a:endParaRPr lang="en-US" sz="1140" dirty="0"/>
          </a:p>
          <a:p>
            <a:pPr marL="0" indent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Jackson (JSON)</a:t>
            </a:r>
            <a:endParaRPr lang="en-US" sz="1140" dirty="0"/>
          </a:p>
          <a:p>
            <a:pPr marL="0" indent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Validation</a:t>
            </a:r>
            <a:endParaRPr lang="en-US" sz="1140" dirty="0"/>
          </a:p>
          <a:p>
            <a:pPr marL="0" indent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Embedded Tomcat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4914900" y="1988820"/>
            <a:ext cx="3458718" cy="21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spring-boot-starter-data-jpa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4914900" y="2360654"/>
            <a:ext cx="3390900" cy="926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ORM configurado</a:t>
            </a:r>
            <a:endParaRPr lang="en-US" sz="1140" dirty="0"/>
          </a:p>
          <a:p>
            <a:pPr marL="0" indent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Transacciones</a:t>
            </a:r>
            <a:endParaRPr lang="en-US" sz="1140" dirty="0"/>
          </a:p>
          <a:p>
            <a:pPr marL="0" indent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Pool de conexiones</a:t>
            </a:r>
            <a:endParaRPr lang="en-US" sz="1140" dirty="0"/>
          </a:p>
          <a:p>
            <a:pPr marL="0" indent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Migrations (Flyway)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784860" y="4125160"/>
            <a:ext cx="75971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Resultado:</a:t>
            </a: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Una sola línea en pom.xml = semanas de configuración eliminadas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02080"/>
            <a:ext cx="7924800" cy="510540"/>
          </a:xfrm>
          <a:prstGeom prst="roundRect">
            <a:avLst>
              <a:gd name="adj" fmla="val 35821"/>
            </a:avLst>
          </a:prstGeom>
          <a:solidFill>
            <a:srgbClr val="38BDF8">
              <a:alpha val="1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Auto-Configuración Inteligente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84860" y="1554480"/>
            <a:ext cx="75971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Boot detecta lo que necesitas en el classpath y lo configura automáticamente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1500" y="2552700"/>
            <a:ext cx="3886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144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spring-boot-starter-data-jpa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571500" y="2872741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609600" y="3055623"/>
            <a:ext cx="3810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DataSource + Transaction Manager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86300" y="2552700"/>
            <a:ext cx="3886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144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spring-security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4686300" y="2872741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4724400" y="3055623"/>
            <a:ext cx="3810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 + Authorization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1500" y="3489959"/>
            <a:ext cx="3886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144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Micrometer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571500" y="381000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09600" y="3992882"/>
            <a:ext cx="3810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Metrics + Monitoring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86300" y="3489959"/>
            <a:ext cx="3886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144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🏥 Spring Boot Actuator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4686300" y="381000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4724400" y="3992882"/>
            <a:ext cx="3810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Checks + Endpoints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Beneficios que Puedes Medir Hoy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680209"/>
            <a:ext cx="7620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</a:t>
            </a:r>
            <a:r>
              <a:rPr lang="en-US" sz="13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40% más rápido</a:t>
            </a: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 Java + Spring Framework tradicional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</a:t>
            </a:r>
            <a:r>
              <a:rPr lang="en-US" sz="135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Enfoque en lógica:</a:t>
            </a: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100% tiempo en features, 0% en configuración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</a:t>
            </a:r>
            <a:r>
              <a:rPr lang="en-US" sz="135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Embedded Tomcat:</a:t>
            </a: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Deploy como JAR independiente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🔧 </a:t>
            </a:r>
            <a:r>
              <a:rPr lang="en-US" sz="135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Menos errores:</a:t>
            </a: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Convenciones eliminan bugs de configuración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</a:t>
            </a:r>
            <a:r>
              <a:rPr lang="en-US" sz="135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Microservicios listos:</a:t>
            </a: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Estructura perfecta para arquitecturas modernas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🌍 </a:t>
            </a:r>
            <a:r>
              <a:rPr lang="en-US" sz="135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Comunidad:</a:t>
            </a: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Millones de desarrolladores, soluciones probadas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50065"/>
            <a:ext cx="3848100" cy="1437084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450065"/>
            <a:ext cx="3848100" cy="1437084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115749"/>
            <a:ext cx="3848100" cy="1217652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86300" y="3115749"/>
            <a:ext cx="3848100" cy="1217652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Anotaciones Más Poderosas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1754865"/>
            <a:ext cx="3303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@SpringBootApplication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143483"/>
            <a:ext cx="3238500" cy="438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Combina 3 anotaciones en 1. Inicia tu app en una línea.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4991100" y="1754865"/>
            <a:ext cx="3303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@EnableAutoConfiguration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91100" y="2143483"/>
            <a:ext cx="3303270" cy="21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Activa la "magia" automática de configuración.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914400" y="3420549"/>
            <a:ext cx="3303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@Component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809167"/>
            <a:ext cx="3303270" cy="21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Marca cualquier clase como bean de Spring.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4991100" y="3420549"/>
            <a:ext cx="3303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@Qualifier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91100" y="3809167"/>
            <a:ext cx="3303270" cy="21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Especifica cuál bean usar cuando hay múltiples.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2591"/>
            <a:ext cx="381000" cy="381000"/>
          </a:xfrm>
          <a:prstGeom prst="roundRect">
            <a:avLst>
              <a:gd name="adj" fmla="val 1200000"/>
            </a:avLst>
          </a:prstGeom>
          <a:solidFill>
            <a:srgbClr val="38BDF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2205991"/>
            <a:ext cx="381000" cy="381000"/>
          </a:xfrm>
          <a:prstGeom prst="roundRect">
            <a:avLst>
              <a:gd name="adj" fmla="val 1200000"/>
            </a:avLst>
          </a:prstGeom>
          <a:solidFill>
            <a:srgbClr val="38BDF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2739391"/>
            <a:ext cx="381000" cy="381000"/>
          </a:xfrm>
          <a:prstGeom prst="roundRect">
            <a:avLst>
              <a:gd name="adj" fmla="val 1200000"/>
            </a:avLst>
          </a:prstGeom>
          <a:solidFill>
            <a:srgbClr val="38BDF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3272791"/>
            <a:ext cx="381000" cy="381000"/>
          </a:xfrm>
          <a:prstGeom prst="roundRect">
            <a:avLst>
              <a:gd name="adj" fmla="val 1200000"/>
            </a:avLst>
          </a:prstGeom>
          <a:solidFill>
            <a:srgbClr val="38BDF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3806191"/>
            <a:ext cx="381000" cy="381000"/>
          </a:xfrm>
          <a:prstGeom prst="roundRect">
            <a:avLst>
              <a:gd name="adj" fmla="val 1200000"/>
            </a:avLst>
          </a:prstGeom>
          <a:solidFill>
            <a:srgbClr val="10B98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Flujo Moderno: De Idea a Producción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143000" y="1760223"/>
            <a:ext cx="37770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spring-boot-starter</a:t>
            </a: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Maven/Gradle genera estructura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2293623"/>
            <a:ext cx="353544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Anotaciones (@)</a:t>
            </a: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Define controladores y servicios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2827023"/>
            <a:ext cx="399145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Auto-Config</a:t>
            </a: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Spring Boot arregla todo automáticamente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3360423"/>
            <a:ext cx="298037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mvn clean package</a:t>
            </a: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JAR listo para deploy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3893823"/>
            <a:ext cx="299930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-jar app.jar</a:t>
            </a:r>
            <a:r>
              <a:rPr lang="en-US" sz="12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En producción sin drama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Boot Resuelve Esto Instantáneamente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</a:t>
            </a:r>
            <a:r>
              <a:rPr lang="en-US" sz="135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APIs:</a:t>
            </a: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Endpoint de GET/POST en minutos, no horas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🗄️ </a:t>
            </a:r>
            <a:r>
              <a:rPr lang="en-US" sz="135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Conectar BD:</a:t>
            </a: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application.properties → listo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</a:t>
            </a:r>
            <a:r>
              <a:rPr lang="en-US" sz="135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Seguridad:</a:t>
            </a: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Una dependencia = autenticación y autorización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</a:t>
            </a:r>
            <a:r>
              <a:rPr lang="en-US" sz="135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Logging y Metrics:</a:t>
            </a: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Actuator trae todo pre-configurado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</a:t>
            </a:r>
            <a:r>
              <a:rPr lang="en-US" sz="135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Propiedades dinámicas:</a:t>
            </a: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Cambiar config sin recompilar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</a:t>
            </a:r>
            <a:r>
              <a:rPr lang="en-US" sz="135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Microservicios:</a:t>
            </a: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Estructura lista para servicios independientes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00761" y="659132"/>
            <a:ext cx="4542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5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Filosofía de Spring Boot: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345293" y="1040132"/>
            <a:ext cx="4453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Menos Configuración</a:t>
            </a:r>
            <a:endParaRPr lang="en-US" sz="3600" dirty="0"/>
          </a:p>
          <a:p>
            <a:pPr marL="0" indent="0" algn="ctr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Más Innovación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96583" y="3295650"/>
            <a:ext cx="1860154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24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14820" y="3775709"/>
            <a:ext cx="18236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Enfócate en lo que importa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77707" y="3295650"/>
            <a:ext cx="1835258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24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95700" y="3775709"/>
            <a:ext cx="179927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Desarrolla 40% más rápido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34403" y="3295650"/>
            <a:ext cx="1812548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24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52173" y="3775709"/>
            <a:ext cx="177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sin complicaciones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37786" y="4286250"/>
            <a:ext cx="2668429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Bienvenido al desarrollo moderno de Java</a:t>
            </a:r>
            <a:endParaRPr lang="en-US" sz="11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670</Words>
  <Application>Microsoft Office PowerPoint</Application>
  <PresentationFormat>Presentación en pantalla (16:9)</PresentationFormat>
  <Paragraphs>144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Courier New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Juan Pablo Vélez Arroyave</cp:lastModifiedBy>
  <cp:revision>3</cp:revision>
  <dcterms:created xsi:type="dcterms:W3CDTF">2026-02-06T00:56:55Z</dcterms:created>
  <dcterms:modified xsi:type="dcterms:W3CDTF">2026-02-06T01:05:30Z</dcterms:modified>
</cp:coreProperties>
</file>